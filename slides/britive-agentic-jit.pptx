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1235"/>
                </a:solidFill>
                <a:latin typeface="Segoe UI"/>
              </a:rPr>
              <a:t>Agentic access to customer data — no standing credentials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6B6B7B"/>
                </a:solidFill>
                <a:latin typeface="Segoe UI"/>
              </a:rPr>
              <a:t>Nightly pipeline writes it. You ask Claude about it. Nothing holds a key in between.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F4F2F8"/>
          </a:solidFill>
          <a:ln w="12700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7" y="1600200"/>
            <a:ext cx="27980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1235"/>
                </a:solidFill>
                <a:latin typeface="Segoe UI"/>
              </a:rPr>
              <a:t>GitHub Actions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6B7B"/>
                </a:solidFill>
                <a:latin typeface="Segoe UI"/>
              </a:rPr>
              <a:t>Machine identity, 07:00 daily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6B7B"/>
                </a:solidFill>
                <a:latin typeface="Segoe UI"/>
              </a:rPr>
              <a:t>OIDC → Britive → JIT credential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6B7B"/>
                </a:solidFill>
                <a:latin typeface="Segoe UI"/>
              </a:rPr>
              <a:t>No secrets in the 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77639" y="2002536"/>
            <a:ext cx="685800" cy="201168"/>
          </a:xfrm>
          <a:prstGeom prst="rightArrow">
            <a:avLst/>
          </a:prstGeom>
          <a:solidFill>
            <a:srgbClr val="6C4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00600" y="141732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01768" y="1600200"/>
            <a:ext cx="23408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1235"/>
                </a:solidFill>
                <a:latin typeface="Segoe UI"/>
              </a:rPr>
              <a:t>s3://…/daily/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6B7B"/>
                </a:solidFill>
                <a:latin typeface="Segoe UI"/>
              </a:rPr>
              <a:t>Today's customer intake batch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6B7B"/>
                </a:solidFill>
                <a:latin typeface="Segoe UI"/>
              </a:rPr>
              <a:t>43 records · $29,322 MRR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6B7B"/>
                </a:solidFill>
                <a:latin typeface="Segoe UI"/>
              </a:rPr>
              <a:t>Written by an identity that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6B7B"/>
                </a:solidFill>
                <a:latin typeface="Segoe UI"/>
              </a:rPr>
              <a:t>no longer exists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726679" y="2002536"/>
            <a:ext cx="685800" cy="201168"/>
          </a:xfrm>
          <a:prstGeom prst="rightArrow">
            <a:avLst/>
          </a:prstGeom>
          <a:solidFill>
            <a:srgbClr val="6C4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32520" y="141732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F4F2F8"/>
          </a:solidFill>
          <a:ln w="12700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33688" y="1600200"/>
            <a:ext cx="243230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1235"/>
                </a:solidFill>
                <a:latin typeface="Segoe UI"/>
              </a:rPr>
              <a:t>Claude Desktop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6B7B"/>
                </a:solidFill>
                <a:latin typeface="Segoe UI"/>
              </a:rPr>
              <a:t>Reads it on demand via MCP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6B7B"/>
                </a:solidFill>
                <a:latin typeface="Segoe UI"/>
              </a:rPr>
              <a:t>Credential minted per question,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6B7B"/>
                </a:solidFill>
                <a:latin typeface="Segoe UI"/>
              </a:rPr>
              <a:t>revoked before it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C4BB6"/>
                </a:solidFill>
                <a:latin typeface="Segoe UI"/>
              </a:rPr>
              <a:t>WHAT THE CUSTOMER WATCHES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10128"/>
            <a:ext cx="10927080" cy="2103120"/>
          </a:xfrm>
          <a:prstGeom prst="roundRect">
            <a:avLst>
              <a:gd name="adj" fmla="val 6000"/>
            </a:avLst>
          </a:prstGeom>
          <a:solidFill>
            <a:srgbClr val="F4F2F8"/>
          </a:solidFill>
          <a:ln w="12700">
            <a:solidFill>
              <a:srgbClr val="E2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1235"/>
                </a:solidFill>
                <a:latin typeface="Segoe UI"/>
              </a:rPr>
              <a:t>“What did the pipeline drop today?”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33333D"/>
                </a:solidFill>
                <a:latin typeface="Segoe UI"/>
              </a:rPr>
              <a:t>43 records, $29,322 — different numbers every morning, because it really did run overnight.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F1235"/>
                </a:solidFill>
                <a:latin typeface="Segoe UI"/>
              </a:rPr>
              <a:t>“Who did that read actually run as?”</a:t>
            </a:r>
          </a:p>
          <a:p>
            <a:pPr algn="l">
              <a:spcAft>
                <a:spcPts val="1200"/>
              </a:spcAft>
            </a:pPr>
            <a:r>
              <a:rPr sz="1150" b="0">
                <a:solidFill>
                  <a:srgbClr val="1B7F5A"/>
                </a:solidFill>
                <a:latin typeface="Consolas"/>
              </a:rPr>
              <a:t>…/cpollock-britive-s3-readonly-role/clint.pollock@jit-zsp.com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F1235"/>
                </a:solidFill>
                <a:latin typeface="Segoe UI"/>
              </a:rPr>
              <a:t>“Now show me the same thing, as the agent itself.”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6C4BB6"/>
                </a:solidFill>
                <a:latin typeface="Consolas"/>
              </a:rPr>
              <a:t>…/cpollock-britive-s3-readonly-role/…@iam.serviceaccount.com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50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1235"/>
                </a:solidFill>
                <a:latin typeface="Segoe UI"/>
              </a:rPr>
              <a:t>Same AI. Same token. Same role. Two different identities in the audit log.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1235"/>
                </a:solidFill>
                <a:latin typeface="Segoe UI"/>
              </a:rPr>
              <a:t>Three identities touch one file. None of them keeps a key.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6B6B7B"/>
                </a:solidFill>
                <a:latin typeface="Segoe UI"/>
              </a:rPr>
              <a:t>Each one is granted just-in-time, scoped to a single job, and audited separately.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C4BB6"/>
                </a:solidFill>
                <a:latin typeface="Segoe UI"/>
              </a:rPr>
              <a:t>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7720" y="164592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C4BB6"/>
                </a:solidFill>
                <a:latin typeface="Segoe UI"/>
              </a:rPr>
              <a:t>WHAT IT MAY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64592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C4BB6"/>
                </a:solidFill>
                <a:latin typeface="Segoe UI"/>
              </a:rPr>
              <a:t>WHERE IT STOPS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93392"/>
            <a:ext cx="10927080" cy="969264"/>
          </a:xfrm>
          <a:prstGeom prst="roundRect">
            <a:avLst>
              <a:gd name="adj" fmla="val 6000"/>
            </a:avLst>
          </a:prstGeom>
          <a:solidFill>
            <a:srgbClr val="F4F2F8"/>
          </a:solidFill>
          <a:ln w="12700">
            <a:solidFill>
              <a:srgbClr val="E2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342900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1235"/>
                </a:solidFill>
                <a:latin typeface="Segoe UI"/>
              </a:rPr>
              <a:t>The pipeline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B6B7B"/>
                </a:solidFill>
                <a:latin typeface="Segoe UI"/>
              </a:rPr>
              <a:t>GitHub Actions, unattended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993392"/>
            <a:ext cx="306324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B7F5A"/>
                </a:solidFill>
                <a:latin typeface="Segoe UI"/>
              </a:rPr>
              <a:t>Write today's batch to one bucket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993392"/>
            <a:ext cx="31546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32D2D"/>
                </a:solidFill>
                <a:latin typeface="Segoe UI"/>
              </a:rPr>
              <a:t>Cannot read anything else, cannot create infrastructure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90672"/>
            <a:ext cx="10927080" cy="969264"/>
          </a:xfrm>
          <a:prstGeom prst="roundRect">
            <a:avLst>
              <a:gd name="adj" fmla="val 6000"/>
            </a:avLst>
          </a:prstGeom>
          <a:solidFill>
            <a:srgbClr val="F4F2F8"/>
          </a:solidFill>
          <a:ln w="12700">
            <a:solidFill>
              <a:srgbClr val="E2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3090672"/>
            <a:ext cx="342900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1235"/>
                </a:solidFill>
                <a:latin typeface="Segoe UI"/>
              </a:rPr>
              <a:t>The agent, as itself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B6B7B"/>
                </a:solidFill>
                <a:latin typeface="Segoe UI"/>
              </a:rPr>
              <a:t>Britive service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90672"/>
            <a:ext cx="306324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B7F5A"/>
                </a:solidFill>
                <a:latin typeface="Segoe UI"/>
              </a:rPr>
              <a:t>Read that one bucket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090672"/>
            <a:ext cx="31546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32D2D"/>
                </a:solidFill>
                <a:latin typeface="Segoe UI"/>
              </a:rPr>
              <a:t>Cannot write. Cannot see any other bucket.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87952"/>
            <a:ext cx="10927080" cy="969264"/>
          </a:xfrm>
          <a:prstGeom prst="roundRect">
            <a:avLst>
              <a:gd name="adj" fmla="val 6000"/>
            </a:avLst>
          </a:prstGeom>
          <a:solidFill>
            <a:srgbClr val="F4F2F8"/>
          </a:solidFill>
          <a:ln w="12700">
            <a:solidFill>
              <a:srgbClr val="E2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68680" y="4187952"/>
            <a:ext cx="342900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1235"/>
                </a:solidFill>
                <a:latin typeface="Segoe UI"/>
              </a:rPr>
              <a:t>The agent, as you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B6B7B"/>
                </a:solidFill>
                <a:latin typeface="Segoe UI"/>
              </a:rPr>
              <a:t>Same token + on-behalf-of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187952"/>
            <a:ext cx="306324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B7F5A"/>
                </a:solidFill>
                <a:latin typeface="Segoe UI"/>
              </a:rPr>
              <a:t>Read exactly what you can 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187952"/>
            <a:ext cx="31546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32D2D"/>
                </a:solidFill>
                <a:latin typeface="Segoe UI"/>
              </a:rPr>
              <a:t>Loses access the moment you 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577840"/>
            <a:ext cx="10927080" cy="777240"/>
          </a:xfrm>
          <a:prstGeom prst="roundRect">
            <a:avLst>
              <a:gd name="adj" fmla="val 6000"/>
            </a:avLst>
          </a:prstGeom>
          <a:solidFill>
            <a:srgbClr val="1F1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5577840"/>
            <a:ext cx="10332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The AI reaches this data because you can — not because it holds a key of its own. Revoke you, and it loses access in the same instant.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