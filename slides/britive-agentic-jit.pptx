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F1235"/>
                </a:solidFill>
                <a:latin typeface="Segoe UI"/>
              </a:rPr>
              <a:t>Agentic access to customer data — no standing credentials</a:t>
            </a:r>
          </a:p>
          <a:p>
            <a:pPr algn="l">
              <a:spcAft>
                <a:spcPts val="600"/>
              </a:spcAft>
            </a:pPr>
            <a:r>
              <a:rPr sz="1350" b="0">
                <a:solidFill>
                  <a:srgbClr val="6B6B7B"/>
                </a:solidFill>
                <a:latin typeface="Segoe UI"/>
              </a:rPr>
              <a:t>Nightly pipeline writes it. You ask Claude about it. Nothing holds a key in between.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325880"/>
            <a:ext cx="3200400" cy="1325880"/>
          </a:xfrm>
          <a:prstGeom prst="roundRect">
            <a:avLst>
              <a:gd name="adj" fmla="val 6000"/>
            </a:avLst>
          </a:prstGeom>
          <a:solidFill>
            <a:srgbClr val="F4F2F8"/>
          </a:solidFill>
          <a:ln w="12700">
            <a:solidFill>
              <a:srgbClr val="DD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41247" y="1508760"/>
            <a:ext cx="2798064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1235"/>
                </a:solidFill>
                <a:latin typeface="Segoe UI"/>
              </a:rPr>
              <a:t>GitHub Actions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6B6B7B"/>
                </a:solidFill>
                <a:latin typeface="Segoe UI"/>
              </a:rPr>
              <a:t>Machine identity, 07:00 Mon–Fri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6B6B7B"/>
                </a:solidFill>
                <a:latin typeface="Segoe UI"/>
              </a:rPr>
              <a:t>OIDC → Britive → JIT credential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6B6B7B"/>
                </a:solidFill>
                <a:latin typeface="Segoe UI"/>
              </a:rPr>
              <a:t>Nothing stored in the repo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977639" y="1883664"/>
            <a:ext cx="685800" cy="201168"/>
          </a:xfrm>
          <a:prstGeom prst="rightArrow">
            <a:avLst/>
          </a:prstGeom>
          <a:solidFill>
            <a:srgbClr val="6C4B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800600" y="1325880"/>
            <a:ext cx="2743200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001768" y="1508760"/>
            <a:ext cx="2340864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1235"/>
                </a:solidFill>
                <a:latin typeface="Segoe UI"/>
              </a:rPr>
              <a:t>s3://…/daily/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6B6B7B"/>
                </a:solidFill>
                <a:latin typeface="Segoe UI"/>
              </a:rPr>
              <a:t>Today's customer intake batch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6B6B7B"/>
                </a:solidFill>
                <a:latin typeface="Segoe UI"/>
              </a:rPr>
              <a:t>43 records · $29,322 MRR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6B6B7B"/>
                </a:solidFill>
                <a:latin typeface="Segoe UI"/>
              </a:rPr>
              <a:t>Written by an identity that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6B6B7B"/>
                </a:solidFill>
                <a:latin typeface="Segoe UI"/>
              </a:rPr>
              <a:t>no longer exists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726679" y="1883664"/>
            <a:ext cx="685800" cy="201168"/>
          </a:xfrm>
          <a:prstGeom prst="rightArrow">
            <a:avLst/>
          </a:prstGeom>
          <a:solidFill>
            <a:srgbClr val="6C4B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732520" y="1325880"/>
            <a:ext cx="2834640" cy="1325880"/>
          </a:xfrm>
          <a:prstGeom prst="roundRect">
            <a:avLst>
              <a:gd name="adj" fmla="val 6000"/>
            </a:avLst>
          </a:prstGeom>
          <a:solidFill>
            <a:srgbClr val="F4F2F8"/>
          </a:solidFill>
          <a:ln w="12700">
            <a:solidFill>
              <a:srgbClr val="DD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933688" y="1508760"/>
            <a:ext cx="2432304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1235"/>
                </a:solidFill>
                <a:latin typeface="Segoe UI"/>
              </a:rPr>
              <a:t>Claude Desktop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6B6B7B"/>
                </a:solidFill>
                <a:latin typeface="Segoe UI"/>
              </a:rPr>
              <a:t>Reads it on demand via MCP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6B6B7B"/>
                </a:solidFill>
                <a:latin typeface="Segoe UI"/>
              </a:rPr>
              <a:t>Credential minted per question,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6B6B7B"/>
                </a:solidFill>
                <a:latin typeface="Segoe UI"/>
              </a:rPr>
              <a:t>revoked before it answers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761488"/>
            <a:ext cx="10927080" cy="566928"/>
          </a:xfrm>
          <a:prstGeom prst="roundRect">
            <a:avLst>
              <a:gd name="adj" fmla="val 6000"/>
            </a:avLst>
          </a:prstGeom>
          <a:solidFill>
            <a:srgbClr val="ECE7F7"/>
          </a:solidFill>
          <a:ln w="12700">
            <a:solidFill>
              <a:srgbClr val="D2C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60120" y="276148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>
                <a:solidFill>
                  <a:srgbClr val="6C4BB6"/>
                </a:solidFill>
                <a:latin typeface="Segoe UI"/>
              </a:rPr>
              <a:t>NO KEYS, NO GITHUB SECRETS — THIS STRING IS THE ENTIRE CREDENTIAL</a:t>
            </a:r>
          </a:p>
          <a:p>
            <a:pPr algn="l">
              <a:spcAft>
                <a:spcPts val="0"/>
              </a:spcAft>
            </a:pPr>
            <a:r>
              <a:rPr sz="1250" b="1">
                <a:solidFill>
                  <a:srgbClr val="1F1235"/>
                </a:solidFill>
                <a:latin typeface="Consolas"/>
              </a:rPr>
              <a:t>sub = repo:ClintPollock/britive-jit-demo:ref:refs/heads/main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52958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C4BB6"/>
                </a:solidFill>
                <a:latin typeface="Segoe UI"/>
              </a:rPr>
              <a:t>WHAT THE CUSTOMER WATCHES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803904"/>
            <a:ext cx="10927080" cy="1993392"/>
          </a:xfrm>
          <a:prstGeom prst="roundRect">
            <a:avLst>
              <a:gd name="adj" fmla="val 6000"/>
            </a:avLst>
          </a:prstGeom>
          <a:solidFill>
            <a:srgbClr val="F4F2F8"/>
          </a:solidFill>
          <a:ln w="12700">
            <a:solidFill>
              <a:srgbClr val="E2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60120" y="3950208"/>
            <a:ext cx="103327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F1235"/>
                </a:solidFill>
                <a:latin typeface="Segoe UI"/>
              </a:rPr>
              <a:t>“What did the pipeline drop today?”</a:t>
            </a:r>
          </a:p>
          <a:p>
            <a:pPr algn="l">
              <a:spcAft>
                <a:spcPts val="1200"/>
              </a:spcAft>
            </a:pPr>
            <a:r>
              <a:rPr sz="1200" b="0">
                <a:solidFill>
                  <a:srgbClr val="33333D"/>
                </a:solidFill>
                <a:latin typeface="Segoe UI"/>
              </a:rPr>
              <a:t>43 records, $29,322 — different numbers every morning, because it really did run overnight.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1F1235"/>
                </a:solidFill>
                <a:latin typeface="Segoe UI"/>
              </a:rPr>
              <a:t>“Who did that read actually run as?”</a:t>
            </a:r>
          </a:p>
          <a:p>
            <a:pPr algn="l">
              <a:spcAft>
                <a:spcPts val="1200"/>
              </a:spcAft>
            </a:pPr>
            <a:r>
              <a:rPr sz="1150" b="0">
                <a:solidFill>
                  <a:srgbClr val="1B7F5A"/>
                </a:solidFill>
                <a:latin typeface="Consolas"/>
              </a:rPr>
              <a:t>…/cpollock-britive-s3-readonly-role/clint.pollock@jit-zsp.com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1F1235"/>
                </a:solidFill>
                <a:latin typeface="Segoe UI"/>
              </a:rPr>
              <a:t>“Now show me the same thing, as the agent itself.”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6C4BB6"/>
                </a:solidFill>
                <a:latin typeface="Consolas"/>
              </a:rPr>
              <a:t>…/cpollock-britive-s3-readonly-role/…@iam.serviceaccount.com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01675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1235"/>
                </a:solidFill>
                <a:latin typeface="Segoe UI"/>
              </a:rPr>
              <a:t>Same AI. Same token. Same role. Two different identities in the audit log.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1235"/>
                </a:solidFill>
                <a:latin typeface="Segoe UI"/>
              </a:rPr>
              <a:t>Three identities touch one file. None of them keeps a key.</a:t>
            </a:r>
          </a:p>
          <a:p>
            <a:pPr algn="l">
              <a:spcAft>
                <a:spcPts val="600"/>
              </a:spcAft>
            </a:pPr>
            <a:r>
              <a:rPr sz="1350" b="0">
                <a:solidFill>
                  <a:srgbClr val="6B6B7B"/>
                </a:solidFill>
                <a:latin typeface="Segoe UI"/>
              </a:rPr>
              <a:t>Each one is granted just-in-time, scoped to a single job, and audited separately.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3794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C4BB6"/>
                </a:solidFill>
                <a:latin typeface="Segoe UI"/>
              </a:rPr>
              <a:t>IDENTITY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17720" y="1645920"/>
            <a:ext cx="3337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C4BB6"/>
                </a:solidFill>
                <a:latin typeface="Segoe UI"/>
              </a:rPr>
              <a:t>WHAT IT MAY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8160" y="1645920"/>
            <a:ext cx="3429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C4BB6"/>
                </a:solidFill>
                <a:latin typeface="Segoe UI"/>
              </a:rPr>
              <a:t>WHERE IT STOPS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93392"/>
            <a:ext cx="10927080" cy="969264"/>
          </a:xfrm>
          <a:prstGeom prst="roundRect">
            <a:avLst>
              <a:gd name="adj" fmla="val 6000"/>
            </a:avLst>
          </a:prstGeom>
          <a:solidFill>
            <a:srgbClr val="F4F2F8"/>
          </a:solidFill>
          <a:ln w="12700">
            <a:solidFill>
              <a:srgbClr val="E2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68680" y="1993392"/>
            <a:ext cx="3429000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F1235"/>
                </a:solidFill>
                <a:latin typeface="Segoe UI"/>
              </a:rPr>
              <a:t>The pipeline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6B6B7B"/>
                </a:solidFill>
                <a:latin typeface="Segoe UI"/>
              </a:rPr>
              <a:t>GitHub Actions, unattended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1993392"/>
            <a:ext cx="3063240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B7F5A"/>
                </a:solidFill>
                <a:latin typeface="Segoe UI"/>
              </a:rPr>
              <a:t>Write today's batch to one bucket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1993392"/>
            <a:ext cx="3154680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B32D2D"/>
                </a:solidFill>
                <a:latin typeface="Segoe UI"/>
              </a:rPr>
              <a:t>Cannot read anything else, cannot create infrastructure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090672"/>
            <a:ext cx="10927080" cy="969264"/>
          </a:xfrm>
          <a:prstGeom prst="roundRect">
            <a:avLst>
              <a:gd name="adj" fmla="val 6000"/>
            </a:avLst>
          </a:prstGeom>
          <a:solidFill>
            <a:srgbClr val="F4F2F8"/>
          </a:solidFill>
          <a:ln w="12700">
            <a:solidFill>
              <a:srgbClr val="E2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68680" y="3090672"/>
            <a:ext cx="3429000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F1235"/>
                </a:solidFill>
                <a:latin typeface="Segoe UI"/>
              </a:rPr>
              <a:t>The agent, as itself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6B6B7B"/>
                </a:solidFill>
                <a:latin typeface="Segoe UI"/>
              </a:rPr>
              <a:t>Britive service identity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090672"/>
            <a:ext cx="3063240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B7F5A"/>
                </a:solidFill>
                <a:latin typeface="Segoe UI"/>
              </a:rPr>
              <a:t>Read that one bucket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3090672"/>
            <a:ext cx="3154680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B32D2D"/>
                </a:solidFill>
                <a:latin typeface="Segoe UI"/>
              </a:rPr>
              <a:t>Cannot write. Cannot see any other bucket.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187952"/>
            <a:ext cx="10927080" cy="969264"/>
          </a:xfrm>
          <a:prstGeom prst="roundRect">
            <a:avLst>
              <a:gd name="adj" fmla="val 6000"/>
            </a:avLst>
          </a:prstGeom>
          <a:solidFill>
            <a:srgbClr val="F4F2F8"/>
          </a:solidFill>
          <a:ln w="12700">
            <a:solidFill>
              <a:srgbClr val="E2D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68680" y="4187952"/>
            <a:ext cx="3429000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F1235"/>
                </a:solidFill>
                <a:latin typeface="Segoe UI"/>
              </a:rPr>
              <a:t>The agent, as you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6B6B7B"/>
                </a:solidFill>
                <a:latin typeface="Segoe UI"/>
              </a:rPr>
              <a:t>Same token + on-behalf-of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4187952"/>
            <a:ext cx="3063240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B7F5A"/>
                </a:solidFill>
                <a:latin typeface="Segoe UI"/>
              </a:rPr>
              <a:t>Read exactly what you can read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4187952"/>
            <a:ext cx="3154680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B32D2D"/>
                </a:solidFill>
                <a:latin typeface="Segoe UI"/>
              </a:rPr>
              <a:t>Loses access the moment you 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577840"/>
            <a:ext cx="10927080" cy="777240"/>
          </a:xfrm>
          <a:prstGeom prst="roundRect">
            <a:avLst>
              <a:gd name="adj" fmla="val 6000"/>
            </a:avLst>
          </a:prstGeom>
          <a:solidFill>
            <a:srgbClr val="1F1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0120" y="5577840"/>
            <a:ext cx="103327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The AI reaches this data because you can — not because it holds a key of its own. Revoke you, and it loses access in the same instant.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